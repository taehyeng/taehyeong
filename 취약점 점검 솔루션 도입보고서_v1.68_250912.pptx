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295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51F"/>
    <a:srgbClr val="F9F9F9"/>
    <a:srgbClr val="182D74"/>
    <a:srgbClr val="7F9EB1"/>
    <a:srgbClr val="E7E6E6"/>
    <a:srgbClr val="BFBFBF"/>
    <a:srgbClr val="818181"/>
    <a:srgbClr val="969696"/>
    <a:srgbClr val="C1C1C1"/>
    <a:srgbClr val="908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69" autoAdjust="0"/>
    <p:restoredTop sz="94660"/>
  </p:normalViewPr>
  <p:slideViewPr>
    <p:cSldViewPr snapToGrid="0">
      <p:cViewPr varScale="1">
        <p:scale>
          <a:sx n="74" d="100"/>
          <a:sy n="74" d="100"/>
        </p:scale>
        <p:origin x="7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60B98-F764-43DC-BB3F-55A03F3A7B18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1407-4AA6-42C6-9D71-18A1A3390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65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60B98-F764-43DC-BB3F-55A03F3A7B18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1407-4AA6-42C6-9D71-18A1A3390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48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60B98-F764-43DC-BB3F-55A03F3A7B18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1407-4AA6-42C6-9D71-18A1A3390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913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60B98-F764-43DC-BB3F-55A03F3A7B18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1407-4AA6-42C6-9D71-18A1A3390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130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60B98-F764-43DC-BB3F-55A03F3A7B18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1407-4AA6-42C6-9D71-18A1A3390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847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60B98-F764-43DC-BB3F-55A03F3A7B18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1407-4AA6-42C6-9D71-18A1A3390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047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60B98-F764-43DC-BB3F-55A03F3A7B18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1407-4AA6-42C6-9D71-18A1A3390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096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60B98-F764-43DC-BB3F-55A03F3A7B18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1407-4AA6-42C6-9D71-18A1A3390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220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60B98-F764-43DC-BB3F-55A03F3A7B18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1407-4AA6-42C6-9D71-18A1A3390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35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60B98-F764-43DC-BB3F-55A03F3A7B18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1407-4AA6-42C6-9D71-18A1A3390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48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60B98-F764-43DC-BB3F-55A03F3A7B18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71407-4AA6-42C6-9D71-18A1A3390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151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0B98-F764-43DC-BB3F-55A03F3A7B18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71407-4AA6-42C6-9D71-18A1A3390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678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46CE1B47-F217-40FE-AEBD-D173177551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14"/>
            <a:ext cx="12192001" cy="6844171"/>
          </a:xfrm>
          <a:prstGeom prst="rect">
            <a:avLst/>
          </a:prstGeom>
        </p:spPr>
      </p:pic>
      <p:cxnSp>
        <p:nvCxnSpPr>
          <p:cNvPr id="17" name="직선 연결선 16"/>
          <p:cNvCxnSpPr/>
          <p:nvPr/>
        </p:nvCxnSpPr>
        <p:spPr>
          <a:xfrm>
            <a:off x="2613032" y="920903"/>
            <a:ext cx="887272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753533" y="892840"/>
            <a:ext cx="2012642" cy="56127"/>
          </a:xfrm>
          <a:prstGeom prst="rect">
            <a:avLst/>
          </a:prstGeom>
          <a:solidFill>
            <a:srgbClr val="182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FE6B4A-602B-42B3-ACB4-E48E1BE7D922}"/>
              </a:ext>
            </a:extLst>
          </p:cNvPr>
          <p:cNvSpPr txBox="1"/>
          <p:nvPr/>
        </p:nvSpPr>
        <p:spPr>
          <a:xfrm>
            <a:off x="912716" y="1949408"/>
            <a:ext cx="5419073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>
                <a:latin typeface="+mn-ea"/>
              </a:rPr>
              <a:t>“</a:t>
            </a:r>
            <a:r>
              <a:rPr lang="ko-KR" altLang="en-US" sz="1000">
                <a:latin typeface="+mn-ea"/>
              </a:rPr>
              <a:t>방안</a:t>
            </a:r>
            <a:r>
              <a:rPr lang="en-US" altLang="ko-KR" sz="1000">
                <a:latin typeface="+mn-ea"/>
              </a:rPr>
              <a:t>1”</a:t>
            </a:r>
            <a:r>
              <a:rPr lang="ko-KR" altLang="en-US" sz="1000">
                <a:latin typeface="+mn-ea"/>
              </a:rPr>
              <a:t>이</a:t>
            </a:r>
            <a:r>
              <a:rPr lang="en-US" altLang="ko-KR" sz="1000">
                <a:latin typeface="+mn-ea"/>
              </a:rPr>
              <a:t> </a:t>
            </a:r>
            <a:r>
              <a:rPr lang="ko-KR" altLang="en-US" sz="1000">
                <a:latin typeface="+mn-ea"/>
              </a:rPr>
              <a:t>타 방안대비 운영 및 비용상 가장 효율적으로 판단되어 추진하고자 함</a:t>
            </a:r>
            <a:endParaRPr lang="en-US" altLang="ko-KR" sz="1000" dirty="0"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E993FE-A5C0-44C2-9ECD-9B0700576762}"/>
              </a:ext>
            </a:extLst>
          </p:cNvPr>
          <p:cNvSpPr txBox="1"/>
          <p:nvPr/>
        </p:nvSpPr>
        <p:spPr>
          <a:xfrm>
            <a:off x="674018" y="1703789"/>
            <a:ext cx="9669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2.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추진 방안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622955-8F5E-47E2-A3CF-A6730765379C}"/>
              </a:ext>
            </a:extLst>
          </p:cNvPr>
          <p:cNvSpPr txBox="1"/>
          <p:nvPr/>
        </p:nvSpPr>
        <p:spPr>
          <a:xfrm>
            <a:off x="674018" y="1094662"/>
            <a:ext cx="6351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1.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목적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DA59D5-C610-4D41-8035-FDD9EC011F05}"/>
              </a:ext>
            </a:extLst>
          </p:cNvPr>
          <p:cNvSpPr txBox="1"/>
          <p:nvPr/>
        </p:nvSpPr>
        <p:spPr>
          <a:xfrm>
            <a:off x="912716" y="1326339"/>
            <a:ext cx="10411991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- </a:t>
            </a:r>
            <a:r>
              <a:rPr lang="ko-KR" altLang="en-US" sz="1000" dirty="0">
                <a:latin typeface="+mn-ea"/>
              </a:rPr>
              <a:t>정보통신망법 </a:t>
            </a:r>
            <a:r>
              <a:rPr lang="en-US" altLang="ko-KR" sz="1000" dirty="0">
                <a:latin typeface="+mn-ea"/>
              </a:rPr>
              <a:t>/ </a:t>
            </a:r>
            <a:r>
              <a:rPr lang="ko-KR" altLang="en-US" sz="1000" dirty="0">
                <a:latin typeface="+mn-ea"/>
              </a:rPr>
              <a:t>개인정보보호법 기준 </a:t>
            </a:r>
            <a:r>
              <a:rPr lang="ko-KR" altLang="en-US" sz="1000" b="1" i="1" u="sng" dirty="0">
                <a:latin typeface="+mn-ea"/>
              </a:rPr>
              <a:t>연 </a:t>
            </a:r>
            <a:r>
              <a:rPr lang="en-US" altLang="ko-KR" sz="1000" b="1" i="1" u="sng" dirty="0">
                <a:latin typeface="+mn-ea"/>
              </a:rPr>
              <a:t>1</a:t>
            </a:r>
            <a:r>
              <a:rPr lang="ko-KR" altLang="en-US" sz="1000" b="1" i="1" u="sng" dirty="0">
                <a:latin typeface="+mn-ea"/>
              </a:rPr>
              <a:t>회 이상 취약점 점검 의무사항을 준수하기 위함</a:t>
            </a:r>
            <a:r>
              <a:rPr lang="ko-KR" altLang="en-US" sz="1000" dirty="0">
                <a:latin typeface="+mn-ea"/>
              </a:rPr>
              <a:t>    </a:t>
            </a:r>
            <a:r>
              <a:rPr lang="ko-KR" altLang="en-US" sz="1000" dirty="0">
                <a:solidFill>
                  <a:srgbClr val="C00000"/>
                </a:solidFill>
                <a:latin typeface="+mn-ea"/>
              </a:rPr>
              <a:t>** 미 준수 시 최대 </a:t>
            </a:r>
            <a:r>
              <a:rPr lang="en-US" altLang="ko-KR" sz="1000" dirty="0">
                <a:solidFill>
                  <a:srgbClr val="C00000"/>
                </a:solidFill>
                <a:latin typeface="+mn-ea"/>
              </a:rPr>
              <a:t>5,000 </a:t>
            </a:r>
            <a:r>
              <a:rPr lang="ko-KR" altLang="en-US" sz="1000" dirty="0">
                <a:solidFill>
                  <a:srgbClr val="C00000"/>
                </a:solidFill>
                <a:latin typeface="+mn-ea"/>
              </a:rPr>
              <a:t>만원 이하 과태료 발생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BED179-C85E-480B-8DAA-2175A3DAC2DE}"/>
              </a:ext>
            </a:extLst>
          </p:cNvPr>
          <p:cNvSpPr txBox="1"/>
          <p:nvPr/>
        </p:nvSpPr>
        <p:spPr>
          <a:xfrm>
            <a:off x="674017" y="5296554"/>
            <a:ext cx="9669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3.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기대 효과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0247DD-C8C7-4BB2-B1B4-F9C333DB491D}"/>
              </a:ext>
            </a:extLst>
          </p:cNvPr>
          <p:cNvSpPr txBox="1"/>
          <p:nvPr/>
        </p:nvSpPr>
        <p:spPr>
          <a:xfrm>
            <a:off x="912716" y="5553521"/>
            <a:ext cx="4872622" cy="755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1</a:t>
            </a:r>
            <a:r>
              <a:rPr lang="en-US" altLang="ko-KR" sz="1000">
                <a:latin typeface="+mn-ea"/>
              </a:rPr>
              <a:t>) </a:t>
            </a:r>
            <a:r>
              <a:rPr lang="ko-KR" altLang="en-US" sz="1000">
                <a:latin typeface="+mn-ea"/>
              </a:rPr>
              <a:t>대외 영업활동 기여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    </a:t>
            </a:r>
            <a:r>
              <a:rPr lang="en-US" altLang="ko-KR" sz="1000">
                <a:latin typeface="+mn-ea"/>
              </a:rPr>
              <a:t>- IT</a:t>
            </a:r>
            <a:r>
              <a:rPr lang="ko-KR" altLang="en-US" sz="1000">
                <a:latin typeface="+mn-ea"/>
              </a:rPr>
              <a:t>보안 의무 준수 </a:t>
            </a:r>
            <a:r>
              <a:rPr lang="en-US" altLang="ko-KR" sz="1000">
                <a:latin typeface="+mn-ea"/>
              </a:rPr>
              <a:t>: Compliance</a:t>
            </a:r>
            <a:r>
              <a:rPr lang="ko-KR" altLang="en-US" sz="1000">
                <a:latin typeface="+mn-ea"/>
              </a:rPr>
              <a:t> 준수 및 높은 보안수준 </a:t>
            </a:r>
            <a:r>
              <a:rPr lang="ko-KR" altLang="en-US" sz="1000">
                <a:highlight>
                  <a:srgbClr val="FFFF00"/>
                </a:highlight>
                <a:latin typeface="+mn-ea"/>
              </a:rPr>
              <a:t>표출</a:t>
            </a:r>
            <a:endParaRPr lang="en-US" altLang="ko-KR" sz="1000" dirty="0">
              <a:highlight>
                <a:srgbClr val="FFFF00"/>
              </a:highlight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    - </a:t>
            </a:r>
            <a:r>
              <a:rPr lang="ko-KR" altLang="en-US" sz="1000" dirty="0">
                <a:latin typeface="+mn-ea"/>
              </a:rPr>
              <a:t>고객사 요구사항 충족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일반적으로 높은 보안수준 요구</a:t>
            </a:r>
            <a:endParaRPr lang="en-US" altLang="ko-KR" sz="1000" dirty="0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55EA04-C1A0-454C-8B11-2C7CA443487A}"/>
              </a:ext>
            </a:extLst>
          </p:cNvPr>
          <p:cNvSpPr txBox="1"/>
          <p:nvPr/>
        </p:nvSpPr>
        <p:spPr>
          <a:xfrm>
            <a:off x="680225" y="374452"/>
            <a:ext cx="78967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182D74"/>
                </a:solidFill>
                <a:latin typeface="+mn-ea"/>
              </a:rPr>
              <a:t>IT</a:t>
            </a:r>
            <a:r>
              <a:rPr lang="ko-KR" altLang="en-US" sz="2000" b="1" dirty="0">
                <a:solidFill>
                  <a:srgbClr val="182D74"/>
                </a:solidFill>
                <a:latin typeface="+mn-ea"/>
              </a:rPr>
              <a:t>보안</a:t>
            </a:r>
            <a:r>
              <a:rPr lang="en-US" altLang="ko-KR" sz="2000" b="1" dirty="0">
                <a:solidFill>
                  <a:srgbClr val="182D74"/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rgbClr val="182D74"/>
                </a:solidFill>
                <a:latin typeface="+mn-ea"/>
              </a:rPr>
              <a:t>개인정보</a:t>
            </a:r>
            <a:r>
              <a:rPr lang="en-US" altLang="ko-KR" sz="2000" b="1" dirty="0">
                <a:solidFill>
                  <a:srgbClr val="182D74"/>
                </a:solidFill>
                <a:latin typeface="+mn-ea"/>
              </a:rPr>
              <a:t>/</a:t>
            </a:r>
            <a:r>
              <a:rPr lang="ko-KR" altLang="en-US" sz="2000" b="1" dirty="0">
                <a:solidFill>
                  <a:srgbClr val="182D74"/>
                </a:solidFill>
                <a:latin typeface="+mn-ea"/>
              </a:rPr>
              <a:t>정보보호</a:t>
            </a:r>
            <a:r>
              <a:rPr lang="en-US" altLang="ko-KR" sz="2000" b="1" dirty="0">
                <a:solidFill>
                  <a:srgbClr val="182D74"/>
                </a:solidFill>
                <a:latin typeface="+mn-ea"/>
              </a:rPr>
              <a:t>)</a:t>
            </a:r>
            <a:r>
              <a:rPr lang="ko-KR" altLang="en-US" sz="2000" b="1" dirty="0">
                <a:solidFill>
                  <a:srgbClr val="182D74"/>
                </a:solidFill>
                <a:latin typeface="+mn-ea"/>
              </a:rPr>
              <a:t> 관리체계 수립 </a:t>
            </a:r>
            <a:r>
              <a:rPr lang="en-US" altLang="ko-KR" sz="2000" b="1" dirty="0">
                <a:solidFill>
                  <a:srgbClr val="182D74"/>
                </a:solidFill>
                <a:latin typeface="+mn-ea"/>
              </a:rPr>
              <a:t>: </a:t>
            </a:r>
            <a:r>
              <a:rPr lang="en-US" altLang="ko-KR" sz="1600" b="1" dirty="0">
                <a:solidFill>
                  <a:srgbClr val="182D74"/>
                </a:solidFill>
                <a:latin typeface="+mn-ea"/>
              </a:rPr>
              <a:t>IT</a:t>
            </a:r>
            <a:r>
              <a:rPr lang="ko-KR" altLang="en-US" sz="1600" b="1" dirty="0">
                <a:solidFill>
                  <a:srgbClr val="182D74"/>
                </a:solidFill>
                <a:latin typeface="+mn-ea"/>
              </a:rPr>
              <a:t>자산 취약점 관리 </a:t>
            </a:r>
            <a:r>
              <a:rPr lang="ko-KR" altLang="en-US" sz="1600" b="1" dirty="0">
                <a:solidFill>
                  <a:srgbClr val="002060"/>
                </a:solidFill>
                <a:latin typeface="+mn-ea"/>
              </a:rPr>
              <a:t>추진 방안</a:t>
            </a:r>
            <a:endParaRPr lang="ko-KR" altLang="en-US" sz="2400" b="1" dirty="0">
              <a:solidFill>
                <a:srgbClr val="002060"/>
              </a:solidFill>
              <a:latin typeface="+mn-ea"/>
            </a:endParaRPr>
          </a:p>
        </p:txBody>
      </p:sp>
      <p:graphicFrame>
        <p:nvGraphicFramePr>
          <p:cNvPr id="30" name="표 3">
            <a:extLst>
              <a:ext uri="{FF2B5EF4-FFF2-40B4-BE49-F238E27FC236}">
                <a16:creationId xmlns:a16="http://schemas.microsoft.com/office/drawing/2014/main" id="{A82FC166-9CDD-4A20-9D40-2B206FEDA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578623"/>
              </p:ext>
            </p:extLst>
          </p:nvPr>
        </p:nvGraphicFramePr>
        <p:xfrm>
          <a:off x="991573" y="2242304"/>
          <a:ext cx="10680221" cy="1872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35843">
                  <a:extLst>
                    <a:ext uri="{9D8B030D-6E8A-4147-A177-3AD203B41FA5}">
                      <a16:colId xmlns:a16="http://schemas.microsoft.com/office/drawing/2014/main" val="2407486745"/>
                    </a:ext>
                  </a:extLst>
                </a:gridCol>
                <a:gridCol w="1104985">
                  <a:extLst>
                    <a:ext uri="{9D8B030D-6E8A-4147-A177-3AD203B41FA5}">
                      <a16:colId xmlns:a16="http://schemas.microsoft.com/office/drawing/2014/main" val="1534124445"/>
                    </a:ext>
                  </a:extLst>
                </a:gridCol>
                <a:gridCol w="1148614">
                  <a:extLst>
                    <a:ext uri="{9D8B030D-6E8A-4147-A177-3AD203B41FA5}">
                      <a16:colId xmlns:a16="http://schemas.microsoft.com/office/drawing/2014/main" val="4282829365"/>
                    </a:ext>
                  </a:extLst>
                </a:gridCol>
                <a:gridCol w="2039493">
                  <a:extLst>
                    <a:ext uri="{9D8B030D-6E8A-4147-A177-3AD203B41FA5}">
                      <a16:colId xmlns:a16="http://schemas.microsoft.com/office/drawing/2014/main" val="1334971275"/>
                    </a:ext>
                  </a:extLst>
                </a:gridCol>
                <a:gridCol w="2681654">
                  <a:extLst>
                    <a:ext uri="{9D8B030D-6E8A-4147-A177-3AD203B41FA5}">
                      <a16:colId xmlns:a16="http://schemas.microsoft.com/office/drawing/2014/main" val="1597262153"/>
                    </a:ext>
                  </a:extLst>
                </a:gridCol>
                <a:gridCol w="2017632">
                  <a:extLst>
                    <a:ext uri="{9D8B030D-6E8A-4147-A177-3AD203B41FA5}">
                      <a16:colId xmlns:a16="http://schemas.microsoft.com/office/drawing/2014/main" val="2718065401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4245745111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방안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상세 방안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장점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단점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TCO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3109538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점검 인력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점검 방법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최초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총비용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00312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컨설팅 용역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자동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솔루션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취약점 점검 시간 단축</a:t>
                      </a:r>
                      <a:endParaRPr lang="en-US" altLang="ko-KR" sz="10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내부 인력 투입 리소스 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초기 투자비용 높음</a:t>
                      </a:r>
                      <a:endParaRPr lang="en-US" altLang="ko-KR" sz="10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dirty="0"/>
                        <a:t>-</a:t>
                      </a:r>
                      <a:r>
                        <a:rPr lang="ko-KR" altLang="en-US" sz="1000" dirty="0"/>
                        <a:t> 유지보수 계약 고비용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약 </a:t>
                      </a:r>
                      <a:r>
                        <a:rPr lang="en-US" altLang="ko-KR" sz="1000" dirty="0"/>
                        <a:t>20%)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- </a:t>
                      </a:r>
                      <a:r>
                        <a:rPr lang="ko-KR" altLang="en-US" sz="1000"/>
                        <a:t>솔루션 </a:t>
                      </a:r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종 구축 </a:t>
                      </a:r>
                      <a:r>
                        <a:rPr lang="en-US" altLang="ko-KR" sz="1000" dirty="0"/>
                        <a:t>: </a:t>
                      </a:r>
                      <a:r>
                        <a:rPr lang="ko-KR" altLang="en-US" sz="1000" dirty="0"/>
                        <a:t>약 </a:t>
                      </a:r>
                      <a:r>
                        <a:rPr lang="en-US" altLang="ko-KR" sz="1000" dirty="0"/>
                        <a:t>1.6 </a:t>
                      </a:r>
                      <a:r>
                        <a:rPr lang="ko-KR" altLang="en-US" sz="1000" dirty="0"/>
                        <a:t>억원</a:t>
                      </a:r>
                      <a:endParaRPr lang="en-US" altLang="ko-KR" sz="1000" dirty="0"/>
                    </a:p>
                    <a:p>
                      <a:pPr algn="l" latinLnBrk="1"/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컨설팅 용역</a:t>
                      </a:r>
                      <a:r>
                        <a:rPr lang="en-US" altLang="ko-KR" sz="1000" dirty="0"/>
                        <a:t> : </a:t>
                      </a:r>
                      <a:r>
                        <a:rPr lang="ko-KR" altLang="en-US" sz="1000" dirty="0"/>
                        <a:t>약 </a:t>
                      </a:r>
                      <a:r>
                        <a:rPr lang="en-US" altLang="ko-KR" sz="1000" dirty="0"/>
                        <a:t>0.4 </a:t>
                      </a:r>
                      <a:r>
                        <a:rPr lang="ko-KR" altLang="en-US" sz="1000" dirty="0"/>
                        <a:t>억원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약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5.0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21912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내부인력 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수동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내부인력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전문 내부인력 채용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대리 </a:t>
                      </a:r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명</a:t>
                      </a:r>
                      <a:r>
                        <a:rPr lang="en-US" altLang="ko-KR" sz="1000"/>
                        <a:t>)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- </a:t>
                      </a:r>
                      <a:r>
                        <a:rPr lang="ko-KR" altLang="en-US" sz="1000"/>
                        <a:t>내부인력 채용에 따른 고정비용 지속 증가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대리급 전문인력 채용</a:t>
                      </a:r>
                      <a:endParaRPr lang="en-US" altLang="ko-KR" sz="10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  : </a:t>
                      </a:r>
                      <a:r>
                        <a:rPr lang="ko-KR" altLang="en-US" sz="1000" dirty="0"/>
                        <a:t>약 </a:t>
                      </a:r>
                      <a:r>
                        <a:rPr lang="en-US" altLang="ko-KR" sz="1000" dirty="0"/>
                        <a:t>1.4 </a:t>
                      </a:r>
                      <a:r>
                        <a:rPr lang="ko-KR" altLang="en-US" sz="1000" dirty="0"/>
                        <a:t>억원</a:t>
                      </a:r>
                      <a:r>
                        <a:rPr lang="en-US" altLang="ko-KR" sz="1000" dirty="0"/>
                        <a:t> (2</a:t>
                      </a:r>
                      <a:r>
                        <a:rPr lang="ko-KR" altLang="en-US" sz="1000" dirty="0"/>
                        <a:t>명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약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7.5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억원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+ @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83949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컨설팅 용역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수동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외부용역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전문성을 갖춘 외부 인력 투입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매년 고비용 지출 </a:t>
                      </a:r>
                      <a:endParaRPr lang="en-US" altLang="ko-KR" sz="1000" dirty="0"/>
                    </a:p>
                    <a:p>
                      <a:pPr algn="l" latinLnBrk="1"/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점검 대상 확대에 따른 비용 지속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컨설팅 용역 </a:t>
                      </a:r>
                      <a:r>
                        <a:rPr lang="en-US" altLang="ko-KR" sz="1000" dirty="0"/>
                        <a:t>:</a:t>
                      </a:r>
                      <a:r>
                        <a:rPr lang="ko-KR" altLang="en-US" sz="1000" dirty="0"/>
                        <a:t> 약 </a:t>
                      </a:r>
                      <a:r>
                        <a:rPr lang="en-US" altLang="ko-KR" sz="1000" dirty="0"/>
                        <a:t>1.5 </a:t>
                      </a:r>
                      <a:r>
                        <a:rPr lang="ko-KR" altLang="en-US" sz="1000" dirty="0"/>
                        <a:t>억원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약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7.5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억원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+ @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126175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7BE5BAB9-65A4-417A-B398-5C713D112E88}"/>
              </a:ext>
            </a:extLst>
          </p:cNvPr>
          <p:cNvSpPr txBox="1"/>
          <p:nvPr/>
        </p:nvSpPr>
        <p:spPr>
          <a:xfrm>
            <a:off x="991571" y="4129004"/>
            <a:ext cx="9313014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i="1">
                <a:latin typeface="+mn-ea"/>
              </a:rPr>
              <a:t>※ </a:t>
            </a:r>
            <a:r>
              <a:rPr lang="ko-KR" altLang="en-US" sz="1000" i="1">
                <a:latin typeface="+mn-ea"/>
              </a:rPr>
              <a:t>지속적인</a:t>
            </a:r>
            <a:r>
              <a:rPr lang="en-US" altLang="ko-KR" sz="1000" i="1">
                <a:latin typeface="+mn-ea"/>
              </a:rPr>
              <a:t> </a:t>
            </a:r>
            <a:r>
              <a:rPr lang="ko-KR" altLang="en-US" sz="1000" i="1">
                <a:latin typeface="+mn-ea"/>
              </a:rPr>
              <a:t>전산 서비스의 확장이 예상됨에 따라 </a:t>
            </a:r>
            <a:r>
              <a:rPr lang="en-US" altLang="ko-KR" sz="1000" i="1">
                <a:latin typeface="+mn-ea"/>
              </a:rPr>
              <a:t>＂</a:t>
            </a:r>
            <a:r>
              <a:rPr lang="ko-KR" altLang="en-US" sz="1000" i="1">
                <a:latin typeface="+mn-ea"/>
              </a:rPr>
              <a:t>내부인력 인건비 상승</a:t>
            </a:r>
            <a:r>
              <a:rPr lang="en-US" altLang="ko-KR" sz="1000" i="1">
                <a:latin typeface="+mn-ea"/>
              </a:rPr>
              <a:t>/</a:t>
            </a:r>
            <a:r>
              <a:rPr lang="ko-KR" altLang="en-US" sz="1000" i="1">
                <a:latin typeface="+mn-ea"/>
              </a:rPr>
              <a:t>증원</a:t>
            </a:r>
            <a:r>
              <a:rPr lang="en-US" altLang="ko-KR" sz="1000" i="1">
                <a:latin typeface="+mn-ea"/>
              </a:rPr>
              <a:t>”</a:t>
            </a:r>
            <a:r>
              <a:rPr lang="ko-KR" altLang="en-US" sz="1000" i="1">
                <a:latin typeface="+mn-ea"/>
              </a:rPr>
              <a:t> 및 </a:t>
            </a:r>
            <a:r>
              <a:rPr lang="en-US" altLang="ko-KR" sz="1000" i="1">
                <a:latin typeface="+mn-ea"/>
              </a:rPr>
              <a:t>“</a:t>
            </a:r>
            <a:r>
              <a:rPr lang="ko-KR" altLang="en-US" sz="1000" i="1">
                <a:latin typeface="+mn-ea"/>
              </a:rPr>
              <a:t>컨설팅 용역 비용</a:t>
            </a:r>
            <a:r>
              <a:rPr lang="en-US" altLang="ko-KR" sz="1000" i="1">
                <a:latin typeface="+mn-ea"/>
              </a:rPr>
              <a:t>”</a:t>
            </a:r>
            <a:r>
              <a:rPr lang="ko-KR" altLang="en-US" sz="1000" i="1">
                <a:latin typeface="+mn-ea"/>
              </a:rPr>
              <a:t>이 매년 증가될 </a:t>
            </a:r>
            <a:r>
              <a:rPr lang="ko-KR" altLang="en-US" sz="1000" i="1" dirty="0">
                <a:latin typeface="+mn-ea"/>
              </a:rPr>
              <a:t>수 있음</a:t>
            </a:r>
            <a:r>
              <a:rPr lang="en-US" altLang="ko-KR" sz="1000" i="1" dirty="0">
                <a:latin typeface="+mn-ea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B15A92-E9B5-423B-BE93-5A007AE23233}"/>
              </a:ext>
            </a:extLst>
          </p:cNvPr>
          <p:cNvSpPr txBox="1"/>
          <p:nvPr/>
        </p:nvSpPr>
        <p:spPr>
          <a:xfrm>
            <a:off x="8835481" y="1910987"/>
            <a:ext cx="2896698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※ </a:t>
            </a:r>
            <a:r>
              <a:rPr lang="ko-KR" altLang="en-US" sz="1000" dirty="0">
                <a:latin typeface="+mn-ea"/>
              </a:rPr>
              <a:t>취약점 점검 대상 수</a:t>
            </a:r>
            <a:r>
              <a:rPr lang="en-US" altLang="ko-KR" sz="1000" dirty="0">
                <a:latin typeface="+mn-ea"/>
              </a:rPr>
              <a:t>:</a:t>
            </a:r>
            <a:r>
              <a:rPr lang="ko-KR" altLang="en-US" sz="1000" dirty="0">
                <a:latin typeface="+mn-ea"/>
              </a:rPr>
              <a:t> 약 </a:t>
            </a:r>
            <a:r>
              <a:rPr lang="en-US" altLang="ko-KR" sz="1000" dirty="0">
                <a:latin typeface="+mn-ea"/>
              </a:rPr>
              <a:t>600</a:t>
            </a:r>
            <a:r>
              <a:rPr lang="ko-KR" altLang="en-US" sz="1000" dirty="0">
                <a:latin typeface="+mn-ea"/>
              </a:rPr>
              <a:t>대 </a:t>
            </a:r>
            <a:r>
              <a:rPr lang="en-US" altLang="ko-KR" sz="1000" dirty="0">
                <a:latin typeface="+mn-ea"/>
              </a:rPr>
              <a:t>(2025</a:t>
            </a:r>
            <a:r>
              <a:rPr lang="ko-KR" altLang="en-US" sz="1000" dirty="0">
                <a:latin typeface="+mn-ea"/>
              </a:rPr>
              <a:t>년 기준</a:t>
            </a:r>
            <a:r>
              <a:rPr lang="en-US" altLang="ko-KR" sz="1000" dirty="0">
                <a:latin typeface="+mn-ea"/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FC5AAF-ED49-475C-A98A-14711C76C7B8}"/>
              </a:ext>
            </a:extLst>
          </p:cNvPr>
          <p:cNvSpPr txBox="1"/>
          <p:nvPr/>
        </p:nvSpPr>
        <p:spPr>
          <a:xfrm>
            <a:off x="2278738" y="4500420"/>
            <a:ext cx="3506600" cy="755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- ‘25</a:t>
            </a:r>
            <a:r>
              <a:rPr lang="ko-KR" altLang="en-US" sz="1000">
                <a:latin typeface="+mn-ea"/>
              </a:rPr>
              <a:t>년   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취약점 점검 솔루션 구축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>
                <a:latin typeface="+mn-ea"/>
              </a:rPr>
              <a:t>- ’26</a:t>
            </a:r>
            <a:r>
              <a:rPr lang="ko-KR" altLang="en-US" sz="1000" dirty="0">
                <a:latin typeface="+mn-ea"/>
              </a:rPr>
              <a:t>년 </a:t>
            </a:r>
            <a:r>
              <a:rPr lang="en-US" altLang="ko-KR" sz="1000" dirty="0">
                <a:latin typeface="+mn-ea"/>
              </a:rPr>
              <a:t>~ : </a:t>
            </a:r>
            <a:r>
              <a:rPr lang="ko-KR" altLang="en-US" sz="1000" dirty="0">
                <a:latin typeface="+mn-ea"/>
              </a:rPr>
              <a:t>취약점 </a:t>
            </a:r>
            <a:r>
              <a:rPr lang="ko-KR" altLang="en-US" sz="1000">
                <a:latin typeface="+mn-ea"/>
              </a:rPr>
              <a:t>점검 시행 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솔루션 </a:t>
            </a:r>
            <a:r>
              <a:rPr lang="ko-KR" altLang="en-US" sz="1000" dirty="0">
                <a:latin typeface="+mn-ea"/>
              </a:rPr>
              <a:t>운영 </a:t>
            </a:r>
            <a:r>
              <a:rPr lang="en-US" altLang="ko-KR" sz="1000" dirty="0">
                <a:latin typeface="+mn-ea"/>
              </a:rPr>
              <a:t>+</a:t>
            </a:r>
            <a:r>
              <a:rPr lang="ko-KR" altLang="en-US" sz="1000" dirty="0">
                <a:latin typeface="+mn-ea"/>
              </a:rPr>
              <a:t> </a:t>
            </a:r>
            <a:r>
              <a:rPr lang="ko-KR" altLang="en-US" sz="1000">
                <a:latin typeface="+mn-ea"/>
              </a:rPr>
              <a:t>컨설팅 용역</a:t>
            </a:r>
            <a:r>
              <a:rPr lang="en-US" altLang="ko-KR" sz="100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 ‘28</a:t>
            </a:r>
            <a:r>
              <a:rPr lang="ko-KR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년    </a:t>
            </a:r>
            <a:r>
              <a:rPr lang="en-US" altLang="ko-KR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ISMS-P </a:t>
            </a:r>
            <a:r>
              <a:rPr lang="ko-KR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인증 취득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F329A5-1E3C-49D7-8ABD-E93CEBCA78B9}"/>
              </a:ext>
            </a:extLst>
          </p:cNvPr>
          <p:cNvSpPr txBox="1"/>
          <p:nvPr/>
        </p:nvSpPr>
        <p:spPr>
          <a:xfrm>
            <a:off x="753533" y="4525964"/>
            <a:ext cx="16017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[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방안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추진 로드맵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]</a:t>
            </a:r>
            <a:endParaRPr lang="ko-KR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6556CB-19E6-403B-A5AD-7D4A4E956A4A}"/>
              </a:ext>
            </a:extLst>
          </p:cNvPr>
          <p:cNvSpPr txBox="1"/>
          <p:nvPr/>
        </p:nvSpPr>
        <p:spPr>
          <a:xfrm>
            <a:off x="5749168" y="5563613"/>
            <a:ext cx="5922626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2</a:t>
            </a:r>
            <a:r>
              <a:rPr lang="en-US" altLang="ko-KR" sz="1000">
                <a:latin typeface="+mn-ea"/>
              </a:rPr>
              <a:t>) </a:t>
            </a:r>
            <a:r>
              <a:rPr lang="ko-KR" altLang="en-US" sz="1000">
                <a:latin typeface="+mn-ea"/>
              </a:rPr>
              <a:t>대외 그룹사 이미지 향상 기여</a:t>
            </a:r>
            <a:r>
              <a:rPr lang="en-US" altLang="ko-KR" sz="1000">
                <a:latin typeface="+mn-ea"/>
              </a:rPr>
              <a:t>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>
                <a:latin typeface="+mn-ea"/>
              </a:rPr>
              <a:t>    - </a:t>
            </a:r>
            <a:r>
              <a:rPr lang="ko-KR" altLang="en-US" sz="1000" dirty="0">
                <a:latin typeface="+mn-ea"/>
              </a:rPr>
              <a:t>보안사고 예방 및 대응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대외 평판 및 금전적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과태료</a:t>
            </a:r>
            <a:r>
              <a:rPr lang="en-US" altLang="ko-KR" sz="1000">
                <a:latin typeface="+mn-ea"/>
              </a:rPr>
              <a:t>,</a:t>
            </a:r>
            <a:r>
              <a:rPr lang="ko-KR" altLang="en-US" sz="1000">
                <a:latin typeface="+mn-ea"/>
              </a:rPr>
              <a:t>손해배상 등</a:t>
            </a:r>
            <a:r>
              <a:rPr lang="en-US" altLang="ko-KR" sz="1000">
                <a:latin typeface="+mn-ea"/>
              </a:rPr>
              <a:t>) </a:t>
            </a:r>
            <a:r>
              <a:rPr lang="ko-KR" altLang="en-US" sz="1000">
                <a:latin typeface="+mn-ea"/>
              </a:rPr>
              <a:t>피해 최소화</a:t>
            </a:r>
            <a:endParaRPr lang="en-US" altLang="ko-KR" sz="1000"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F337BE-B6DE-42CA-9339-74CA1C0280E3}"/>
              </a:ext>
            </a:extLst>
          </p:cNvPr>
          <p:cNvSpPr txBox="1"/>
          <p:nvPr/>
        </p:nvSpPr>
        <p:spPr>
          <a:xfrm>
            <a:off x="8576939" y="401414"/>
            <a:ext cx="3189474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예상비용 </a:t>
            </a:r>
            <a:r>
              <a:rPr lang="en-US" altLang="ko-KR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1.6</a:t>
            </a:r>
            <a:r>
              <a:rPr lang="ko-KR" altLang="en-US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억원 </a:t>
            </a:r>
            <a:r>
              <a:rPr lang="en-US" altLang="ko-KR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솔루션 </a:t>
            </a:r>
            <a:r>
              <a:rPr lang="en-US" altLang="ko-KR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</a:t>
            </a:r>
            <a:r>
              <a:rPr lang="en-US" altLang="ko-KR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0" b="1" i="1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31792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46CE1B47-F217-40FE-AEBD-D173177551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14"/>
            <a:ext cx="12192001" cy="6844171"/>
          </a:xfrm>
          <a:prstGeom prst="rect">
            <a:avLst/>
          </a:prstGeom>
        </p:spPr>
      </p:pic>
      <p:cxnSp>
        <p:nvCxnSpPr>
          <p:cNvPr id="17" name="직선 연결선 16"/>
          <p:cNvCxnSpPr/>
          <p:nvPr/>
        </p:nvCxnSpPr>
        <p:spPr>
          <a:xfrm>
            <a:off x="2613032" y="920903"/>
            <a:ext cx="887272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753533" y="892840"/>
            <a:ext cx="2012642" cy="56127"/>
          </a:xfrm>
          <a:prstGeom prst="rect">
            <a:avLst/>
          </a:prstGeom>
          <a:solidFill>
            <a:srgbClr val="182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FE6B4A-602B-42B3-ACB4-E48E1BE7D922}"/>
              </a:ext>
            </a:extLst>
          </p:cNvPr>
          <p:cNvSpPr txBox="1"/>
          <p:nvPr/>
        </p:nvSpPr>
        <p:spPr>
          <a:xfrm>
            <a:off x="912716" y="1949408"/>
            <a:ext cx="5419073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>
                <a:latin typeface="+mn-ea"/>
              </a:rPr>
              <a:t>“</a:t>
            </a:r>
            <a:r>
              <a:rPr lang="ko-KR" altLang="en-US" sz="1000">
                <a:latin typeface="+mn-ea"/>
              </a:rPr>
              <a:t>방안</a:t>
            </a:r>
            <a:r>
              <a:rPr lang="en-US" altLang="ko-KR" sz="1000">
                <a:latin typeface="+mn-ea"/>
              </a:rPr>
              <a:t>1”</a:t>
            </a:r>
            <a:r>
              <a:rPr lang="ko-KR" altLang="en-US" sz="1000">
                <a:latin typeface="+mn-ea"/>
              </a:rPr>
              <a:t>이</a:t>
            </a:r>
            <a:r>
              <a:rPr lang="en-US" altLang="ko-KR" sz="1000">
                <a:latin typeface="+mn-ea"/>
              </a:rPr>
              <a:t> </a:t>
            </a:r>
            <a:r>
              <a:rPr lang="ko-KR" altLang="en-US" sz="1000">
                <a:latin typeface="+mn-ea"/>
              </a:rPr>
              <a:t>타 방안대비 운영 및 비용상 가장 효율적으로 판단되어 추진하고자 함</a:t>
            </a:r>
            <a:endParaRPr lang="en-US" altLang="ko-KR" sz="1000" dirty="0"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E993FE-A5C0-44C2-9ECD-9B0700576762}"/>
              </a:ext>
            </a:extLst>
          </p:cNvPr>
          <p:cNvSpPr txBox="1"/>
          <p:nvPr/>
        </p:nvSpPr>
        <p:spPr>
          <a:xfrm>
            <a:off x="674018" y="1703789"/>
            <a:ext cx="9669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2.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추진 방안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622955-8F5E-47E2-A3CF-A6730765379C}"/>
              </a:ext>
            </a:extLst>
          </p:cNvPr>
          <p:cNvSpPr txBox="1"/>
          <p:nvPr/>
        </p:nvSpPr>
        <p:spPr>
          <a:xfrm>
            <a:off x="674018" y="1094662"/>
            <a:ext cx="6351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1.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목적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DA59D5-C610-4D41-8035-FDD9EC011F05}"/>
              </a:ext>
            </a:extLst>
          </p:cNvPr>
          <p:cNvSpPr txBox="1"/>
          <p:nvPr/>
        </p:nvSpPr>
        <p:spPr>
          <a:xfrm>
            <a:off x="912716" y="1326339"/>
            <a:ext cx="10411991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- </a:t>
            </a:r>
            <a:r>
              <a:rPr lang="ko-KR" altLang="en-US" sz="1000" dirty="0">
                <a:latin typeface="+mn-ea"/>
              </a:rPr>
              <a:t>정보통신망법 </a:t>
            </a:r>
            <a:r>
              <a:rPr lang="en-US" altLang="ko-KR" sz="1000" dirty="0">
                <a:latin typeface="+mn-ea"/>
              </a:rPr>
              <a:t>/ </a:t>
            </a:r>
            <a:r>
              <a:rPr lang="ko-KR" altLang="en-US" sz="1000" dirty="0">
                <a:latin typeface="+mn-ea"/>
              </a:rPr>
              <a:t>개인정보보호법 기준 </a:t>
            </a:r>
            <a:r>
              <a:rPr lang="ko-KR" altLang="en-US" sz="1000" b="1" i="1" u="sng" dirty="0">
                <a:latin typeface="+mn-ea"/>
              </a:rPr>
              <a:t>연 </a:t>
            </a:r>
            <a:r>
              <a:rPr lang="en-US" altLang="ko-KR" sz="1000" b="1" i="1" u="sng" dirty="0">
                <a:latin typeface="+mn-ea"/>
              </a:rPr>
              <a:t>1</a:t>
            </a:r>
            <a:r>
              <a:rPr lang="ko-KR" altLang="en-US" sz="1000" b="1" i="1" u="sng" dirty="0">
                <a:latin typeface="+mn-ea"/>
              </a:rPr>
              <a:t>회 이상 취약점 점검 의무사항을 준수하기 위함</a:t>
            </a:r>
            <a:r>
              <a:rPr lang="ko-KR" altLang="en-US" sz="1000" dirty="0">
                <a:latin typeface="+mn-ea"/>
              </a:rPr>
              <a:t>    </a:t>
            </a:r>
            <a:r>
              <a:rPr lang="ko-KR" altLang="en-US" sz="1000" dirty="0">
                <a:solidFill>
                  <a:srgbClr val="C00000"/>
                </a:solidFill>
                <a:latin typeface="+mn-ea"/>
              </a:rPr>
              <a:t>** 미 준수 시 최대 </a:t>
            </a:r>
            <a:r>
              <a:rPr lang="en-US" altLang="ko-KR" sz="1000" dirty="0">
                <a:solidFill>
                  <a:srgbClr val="C00000"/>
                </a:solidFill>
                <a:latin typeface="+mn-ea"/>
              </a:rPr>
              <a:t>5,000 </a:t>
            </a:r>
            <a:r>
              <a:rPr lang="ko-KR" altLang="en-US" sz="1000" dirty="0">
                <a:solidFill>
                  <a:srgbClr val="C00000"/>
                </a:solidFill>
                <a:latin typeface="+mn-ea"/>
              </a:rPr>
              <a:t>만원 이하 과태료 발생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55EA04-C1A0-454C-8B11-2C7CA443487A}"/>
              </a:ext>
            </a:extLst>
          </p:cNvPr>
          <p:cNvSpPr txBox="1"/>
          <p:nvPr/>
        </p:nvSpPr>
        <p:spPr>
          <a:xfrm>
            <a:off x="680225" y="374452"/>
            <a:ext cx="78967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182D74"/>
                </a:solidFill>
                <a:latin typeface="+mn-ea"/>
              </a:rPr>
              <a:t>IT</a:t>
            </a:r>
            <a:r>
              <a:rPr lang="ko-KR" altLang="en-US" sz="2000" b="1" dirty="0">
                <a:solidFill>
                  <a:srgbClr val="182D74"/>
                </a:solidFill>
                <a:latin typeface="+mn-ea"/>
              </a:rPr>
              <a:t>보안</a:t>
            </a:r>
            <a:r>
              <a:rPr lang="en-US" altLang="ko-KR" sz="2000" b="1" dirty="0">
                <a:solidFill>
                  <a:srgbClr val="182D74"/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rgbClr val="182D74"/>
                </a:solidFill>
                <a:latin typeface="+mn-ea"/>
              </a:rPr>
              <a:t>개인정보</a:t>
            </a:r>
            <a:r>
              <a:rPr lang="en-US" altLang="ko-KR" sz="2000" b="1" dirty="0">
                <a:solidFill>
                  <a:srgbClr val="182D74"/>
                </a:solidFill>
                <a:latin typeface="+mn-ea"/>
              </a:rPr>
              <a:t>/</a:t>
            </a:r>
            <a:r>
              <a:rPr lang="ko-KR" altLang="en-US" sz="2000" b="1" dirty="0">
                <a:solidFill>
                  <a:srgbClr val="182D74"/>
                </a:solidFill>
                <a:latin typeface="+mn-ea"/>
              </a:rPr>
              <a:t>정보보호</a:t>
            </a:r>
            <a:r>
              <a:rPr lang="en-US" altLang="ko-KR" sz="2000" b="1" dirty="0">
                <a:solidFill>
                  <a:srgbClr val="182D74"/>
                </a:solidFill>
                <a:latin typeface="+mn-ea"/>
              </a:rPr>
              <a:t>)</a:t>
            </a:r>
            <a:r>
              <a:rPr lang="ko-KR" altLang="en-US" sz="2000" b="1" dirty="0">
                <a:solidFill>
                  <a:srgbClr val="182D74"/>
                </a:solidFill>
                <a:latin typeface="+mn-ea"/>
              </a:rPr>
              <a:t> 관리체계 수립 </a:t>
            </a:r>
            <a:r>
              <a:rPr lang="en-US" altLang="ko-KR" sz="2000" b="1" dirty="0">
                <a:solidFill>
                  <a:srgbClr val="182D74"/>
                </a:solidFill>
                <a:latin typeface="+mn-ea"/>
              </a:rPr>
              <a:t>: </a:t>
            </a:r>
            <a:r>
              <a:rPr lang="en-US" altLang="ko-KR" sz="1600" b="1" dirty="0">
                <a:solidFill>
                  <a:srgbClr val="182D74"/>
                </a:solidFill>
                <a:latin typeface="+mn-ea"/>
              </a:rPr>
              <a:t>IT</a:t>
            </a:r>
            <a:r>
              <a:rPr lang="ko-KR" altLang="en-US" sz="1600" b="1" dirty="0">
                <a:solidFill>
                  <a:srgbClr val="182D74"/>
                </a:solidFill>
                <a:latin typeface="+mn-ea"/>
              </a:rPr>
              <a:t>자산 취약점 관리 </a:t>
            </a:r>
            <a:r>
              <a:rPr lang="ko-KR" altLang="en-US" sz="1600" b="1" dirty="0">
                <a:solidFill>
                  <a:srgbClr val="002060"/>
                </a:solidFill>
                <a:latin typeface="+mn-ea"/>
              </a:rPr>
              <a:t>추진 방안</a:t>
            </a:r>
            <a:endParaRPr lang="ko-KR" altLang="en-US" sz="2400" b="1" dirty="0">
              <a:solidFill>
                <a:srgbClr val="002060"/>
              </a:solidFill>
              <a:latin typeface="+mn-ea"/>
            </a:endParaRPr>
          </a:p>
        </p:txBody>
      </p:sp>
      <p:graphicFrame>
        <p:nvGraphicFramePr>
          <p:cNvPr id="30" name="표 3">
            <a:extLst>
              <a:ext uri="{FF2B5EF4-FFF2-40B4-BE49-F238E27FC236}">
                <a16:creationId xmlns:a16="http://schemas.microsoft.com/office/drawing/2014/main" id="{A82FC166-9CDD-4A20-9D40-2B206FEDA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738064"/>
              </p:ext>
            </p:extLst>
          </p:nvPr>
        </p:nvGraphicFramePr>
        <p:xfrm>
          <a:off x="912716" y="3891338"/>
          <a:ext cx="10680221" cy="1872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35843">
                  <a:extLst>
                    <a:ext uri="{9D8B030D-6E8A-4147-A177-3AD203B41FA5}">
                      <a16:colId xmlns:a16="http://schemas.microsoft.com/office/drawing/2014/main" val="2407486745"/>
                    </a:ext>
                  </a:extLst>
                </a:gridCol>
                <a:gridCol w="1104985">
                  <a:extLst>
                    <a:ext uri="{9D8B030D-6E8A-4147-A177-3AD203B41FA5}">
                      <a16:colId xmlns:a16="http://schemas.microsoft.com/office/drawing/2014/main" val="1534124445"/>
                    </a:ext>
                  </a:extLst>
                </a:gridCol>
                <a:gridCol w="1148614">
                  <a:extLst>
                    <a:ext uri="{9D8B030D-6E8A-4147-A177-3AD203B41FA5}">
                      <a16:colId xmlns:a16="http://schemas.microsoft.com/office/drawing/2014/main" val="4282829365"/>
                    </a:ext>
                  </a:extLst>
                </a:gridCol>
                <a:gridCol w="2039493">
                  <a:extLst>
                    <a:ext uri="{9D8B030D-6E8A-4147-A177-3AD203B41FA5}">
                      <a16:colId xmlns:a16="http://schemas.microsoft.com/office/drawing/2014/main" val="1334971275"/>
                    </a:ext>
                  </a:extLst>
                </a:gridCol>
                <a:gridCol w="2681654">
                  <a:extLst>
                    <a:ext uri="{9D8B030D-6E8A-4147-A177-3AD203B41FA5}">
                      <a16:colId xmlns:a16="http://schemas.microsoft.com/office/drawing/2014/main" val="1597262153"/>
                    </a:ext>
                  </a:extLst>
                </a:gridCol>
                <a:gridCol w="2017632">
                  <a:extLst>
                    <a:ext uri="{9D8B030D-6E8A-4147-A177-3AD203B41FA5}">
                      <a16:colId xmlns:a16="http://schemas.microsoft.com/office/drawing/2014/main" val="2718065401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4245745111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방안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상세 방안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장점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단점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TCO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3109538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점검 인력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점검 방법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최초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총비용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00312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컨설팅 용역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자동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솔루션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취약점 점검 시간 단축</a:t>
                      </a:r>
                      <a:endParaRPr lang="en-US" altLang="ko-KR" sz="10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내부 인력 투입 리소스 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초기 투자비용 높음</a:t>
                      </a:r>
                      <a:endParaRPr lang="en-US" altLang="ko-KR" sz="10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dirty="0"/>
                        <a:t>-</a:t>
                      </a:r>
                      <a:r>
                        <a:rPr lang="ko-KR" altLang="en-US" sz="1000" dirty="0"/>
                        <a:t> 유지보수 계약 고비용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약 </a:t>
                      </a:r>
                      <a:r>
                        <a:rPr lang="en-US" altLang="ko-KR" sz="1000" dirty="0"/>
                        <a:t>20%)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- </a:t>
                      </a:r>
                      <a:r>
                        <a:rPr lang="ko-KR" altLang="en-US" sz="1000"/>
                        <a:t>솔루션 </a:t>
                      </a:r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종 구축 </a:t>
                      </a:r>
                      <a:r>
                        <a:rPr lang="en-US" altLang="ko-KR" sz="1000" dirty="0"/>
                        <a:t>: </a:t>
                      </a:r>
                      <a:r>
                        <a:rPr lang="ko-KR" altLang="en-US" sz="1000" dirty="0"/>
                        <a:t>약 </a:t>
                      </a:r>
                      <a:r>
                        <a:rPr lang="en-US" altLang="ko-KR" sz="1000" dirty="0"/>
                        <a:t>1.6 </a:t>
                      </a:r>
                      <a:r>
                        <a:rPr lang="ko-KR" altLang="en-US" sz="1000" dirty="0"/>
                        <a:t>억원</a:t>
                      </a:r>
                      <a:endParaRPr lang="en-US" altLang="ko-KR" sz="1000" dirty="0"/>
                    </a:p>
                    <a:p>
                      <a:pPr algn="l" latinLnBrk="1"/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컨설팅 용역</a:t>
                      </a:r>
                      <a:r>
                        <a:rPr lang="en-US" altLang="ko-KR" sz="1000" dirty="0"/>
                        <a:t> : </a:t>
                      </a:r>
                      <a:r>
                        <a:rPr lang="ko-KR" altLang="en-US" sz="1000" dirty="0"/>
                        <a:t>약 </a:t>
                      </a:r>
                      <a:r>
                        <a:rPr lang="en-US" altLang="ko-KR" sz="1000" dirty="0"/>
                        <a:t>0.4 </a:t>
                      </a:r>
                      <a:r>
                        <a:rPr lang="ko-KR" altLang="en-US" sz="1000" dirty="0"/>
                        <a:t>억원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약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5.0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21912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내부인력 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수동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내부인력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전문 내부인력 채용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대리 </a:t>
                      </a:r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명</a:t>
                      </a:r>
                      <a:r>
                        <a:rPr lang="en-US" altLang="ko-KR" sz="1000"/>
                        <a:t>)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- </a:t>
                      </a:r>
                      <a:r>
                        <a:rPr lang="ko-KR" altLang="en-US" sz="1000"/>
                        <a:t>내부인력 채용에 따른 고정비용 지속 증가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대리급 전문인력 채용</a:t>
                      </a:r>
                      <a:endParaRPr lang="en-US" altLang="ko-KR" sz="10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  : </a:t>
                      </a:r>
                      <a:r>
                        <a:rPr lang="ko-KR" altLang="en-US" sz="1000" dirty="0"/>
                        <a:t>약 </a:t>
                      </a:r>
                      <a:r>
                        <a:rPr lang="en-US" altLang="ko-KR" sz="1000" dirty="0"/>
                        <a:t>1.4 </a:t>
                      </a:r>
                      <a:r>
                        <a:rPr lang="ko-KR" altLang="en-US" sz="1000" dirty="0"/>
                        <a:t>억원</a:t>
                      </a:r>
                      <a:r>
                        <a:rPr lang="en-US" altLang="ko-KR" sz="1000" dirty="0"/>
                        <a:t> (2</a:t>
                      </a:r>
                      <a:r>
                        <a:rPr lang="ko-KR" altLang="en-US" sz="1000" dirty="0"/>
                        <a:t>명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약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7.5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억원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+ @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83949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컨설팅 용역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수동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외부용역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전문성을 갖춘 외부 인력 투입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매년 고비용 지출 </a:t>
                      </a:r>
                      <a:endParaRPr lang="en-US" altLang="ko-KR" sz="1000" dirty="0"/>
                    </a:p>
                    <a:p>
                      <a:pPr algn="l" latinLnBrk="1"/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점검 대상 확대에 따른 비용 지속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컨설팅 용역 </a:t>
                      </a:r>
                      <a:r>
                        <a:rPr lang="en-US" altLang="ko-KR" sz="1000" dirty="0"/>
                        <a:t>:</a:t>
                      </a:r>
                      <a:r>
                        <a:rPr lang="ko-KR" altLang="en-US" sz="1000" dirty="0"/>
                        <a:t> 약 </a:t>
                      </a:r>
                      <a:r>
                        <a:rPr lang="en-US" altLang="ko-KR" sz="1000" dirty="0"/>
                        <a:t>1.5 </a:t>
                      </a:r>
                      <a:r>
                        <a:rPr lang="ko-KR" altLang="en-US" sz="1000" dirty="0"/>
                        <a:t>억원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약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7.5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억원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+ @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126175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7BE5BAB9-65A4-417A-B398-5C713D112E88}"/>
              </a:ext>
            </a:extLst>
          </p:cNvPr>
          <p:cNvSpPr txBox="1"/>
          <p:nvPr/>
        </p:nvSpPr>
        <p:spPr>
          <a:xfrm>
            <a:off x="991573" y="5790390"/>
            <a:ext cx="9313014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i="1" dirty="0">
                <a:latin typeface="+mn-ea"/>
              </a:rPr>
              <a:t>※ </a:t>
            </a:r>
            <a:r>
              <a:rPr lang="ko-KR" altLang="en-US" sz="1000" i="1" dirty="0">
                <a:latin typeface="+mn-ea"/>
              </a:rPr>
              <a:t>지속적인</a:t>
            </a:r>
            <a:r>
              <a:rPr lang="en-US" altLang="ko-KR" sz="1000" i="1" dirty="0">
                <a:latin typeface="+mn-ea"/>
              </a:rPr>
              <a:t> </a:t>
            </a:r>
            <a:r>
              <a:rPr lang="ko-KR" altLang="en-US" sz="1000" i="1" dirty="0">
                <a:latin typeface="+mn-ea"/>
              </a:rPr>
              <a:t>전산 서비스의 확장이 예상됨에 따라 </a:t>
            </a:r>
            <a:r>
              <a:rPr lang="en-US" altLang="ko-KR" sz="1000" i="1" dirty="0">
                <a:latin typeface="+mn-ea"/>
              </a:rPr>
              <a:t>＂</a:t>
            </a:r>
            <a:r>
              <a:rPr lang="ko-KR" altLang="en-US" sz="1000" i="1" dirty="0">
                <a:latin typeface="+mn-ea"/>
              </a:rPr>
              <a:t>내부인력 인건비 상승</a:t>
            </a:r>
            <a:r>
              <a:rPr lang="en-US" altLang="ko-KR" sz="1000" i="1" dirty="0">
                <a:latin typeface="+mn-ea"/>
              </a:rPr>
              <a:t>/</a:t>
            </a:r>
            <a:r>
              <a:rPr lang="ko-KR" altLang="en-US" sz="1000" i="1" dirty="0">
                <a:latin typeface="+mn-ea"/>
              </a:rPr>
              <a:t>증원</a:t>
            </a:r>
            <a:r>
              <a:rPr lang="en-US" altLang="ko-KR" sz="1000" i="1" dirty="0">
                <a:latin typeface="+mn-ea"/>
              </a:rPr>
              <a:t>”</a:t>
            </a:r>
            <a:r>
              <a:rPr lang="ko-KR" altLang="en-US" sz="1000" i="1" dirty="0">
                <a:latin typeface="+mn-ea"/>
              </a:rPr>
              <a:t> 및 </a:t>
            </a:r>
            <a:r>
              <a:rPr lang="en-US" altLang="ko-KR" sz="1000" i="1" dirty="0">
                <a:latin typeface="+mn-ea"/>
              </a:rPr>
              <a:t>“</a:t>
            </a:r>
            <a:r>
              <a:rPr lang="ko-KR" altLang="en-US" sz="1000" i="1" dirty="0">
                <a:latin typeface="+mn-ea"/>
              </a:rPr>
              <a:t>컨설팅 용역 비용</a:t>
            </a:r>
            <a:r>
              <a:rPr lang="en-US" altLang="ko-KR" sz="1000" i="1" dirty="0">
                <a:latin typeface="+mn-ea"/>
              </a:rPr>
              <a:t>”</a:t>
            </a:r>
            <a:r>
              <a:rPr lang="ko-KR" altLang="en-US" sz="1000" i="1" dirty="0">
                <a:latin typeface="+mn-ea"/>
              </a:rPr>
              <a:t>이 매년 증가될 수 있음</a:t>
            </a:r>
            <a:r>
              <a:rPr lang="en-US" altLang="ko-KR" sz="1000" i="1" dirty="0">
                <a:latin typeface="+mn-ea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B15A92-E9B5-423B-BE93-5A007AE23233}"/>
              </a:ext>
            </a:extLst>
          </p:cNvPr>
          <p:cNvSpPr txBox="1"/>
          <p:nvPr/>
        </p:nvSpPr>
        <p:spPr>
          <a:xfrm>
            <a:off x="8835481" y="1910987"/>
            <a:ext cx="2896698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※ </a:t>
            </a:r>
            <a:r>
              <a:rPr lang="ko-KR" altLang="en-US" sz="1000" dirty="0">
                <a:latin typeface="+mn-ea"/>
              </a:rPr>
              <a:t>취약점 점검 대상 수</a:t>
            </a:r>
            <a:r>
              <a:rPr lang="en-US" altLang="ko-KR" sz="1000" dirty="0">
                <a:latin typeface="+mn-ea"/>
              </a:rPr>
              <a:t>:</a:t>
            </a:r>
            <a:r>
              <a:rPr lang="ko-KR" altLang="en-US" sz="1000" dirty="0">
                <a:latin typeface="+mn-ea"/>
              </a:rPr>
              <a:t> 약 </a:t>
            </a:r>
            <a:r>
              <a:rPr lang="en-US" altLang="ko-KR" sz="1000" dirty="0">
                <a:latin typeface="+mn-ea"/>
              </a:rPr>
              <a:t>600</a:t>
            </a:r>
            <a:r>
              <a:rPr lang="ko-KR" altLang="en-US" sz="1000" dirty="0">
                <a:latin typeface="+mn-ea"/>
              </a:rPr>
              <a:t>대 </a:t>
            </a:r>
            <a:r>
              <a:rPr lang="en-US" altLang="ko-KR" sz="1000" dirty="0">
                <a:latin typeface="+mn-ea"/>
              </a:rPr>
              <a:t>(2025</a:t>
            </a:r>
            <a:r>
              <a:rPr lang="ko-KR" altLang="en-US" sz="1000" dirty="0">
                <a:latin typeface="+mn-ea"/>
              </a:rPr>
              <a:t>년 기준</a:t>
            </a:r>
            <a:r>
              <a:rPr lang="en-US" altLang="ko-KR" sz="1000" dirty="0">
                <a:latin typeface="+mn-ea"/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F337BE-B6DE-42CA-9339-74CA1C0280E3}"/>
              </a:ext>
            </a:extLst>
          </p:cNvPr>
          <p:cNvSpPr txBox="1"/>
          <p:nvPr/>
        </p:nvSpPr>
        <p:spPr>
          <a:xfrm>
            <a:off x="8576939" y="401414"/>
            <a:ext cx="3189474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예상비용 </a:t>
            </a:r>
            <a:r>
              <a:rPr lang="en-US" altLang="ko-KR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1.6</a:t>
            </a:r>
            <a:r>
              <a:rPr lang="ko-KR" altLang="en-US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억원 </a:t>
            </a:r>
            <a:r>
              <a:rPr lang="en-US" altLang="ko-KR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솔루션 </a:t>
            </a:r>
            <a:r>
              <a:rPr lang="en-US" altLang="ko-KR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</a:t>
            </a:r>
            <a:r>
              <a:rPr lang="en-US" altLang="ko-KR" sz="14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0" b="1" i="1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35696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46882</TotalTime>
  <Words>623</Words>
  <Application>Microsoft Office PowerPoint</Application>
  <PresentationFormat>와이드스크린</PresentationFormat>
  <Paragraphs>100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LogisALL</dc:creator>
  <cp:lastModifiedBy>김태형 (보안파트|파트장)</cp:lastModifiedBy>
  <cp:revision>794</cp:revision>
  <dcterms:created xsi:type="dcterms:W3CDTF">2023-03-17T07:07:51Z</dcterms:created>
  <dcterms:modified xsi:type="dcterms:W3CDTF">2025-09-12T07:18:18Z</dcterms:modified>
</cp:coreProperties>
</file>